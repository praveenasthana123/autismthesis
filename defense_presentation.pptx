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Responsible AI Governance for Clinician Trust and Adoption of</a:t>
            </a:r>
            <a:br/>
            <a:r>
              <a:rPr b="1"/>
              <a:t>AI-Assisted ASD-EEG Screening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 i="1"/>
              <a:t>A Human-Centered Responsible AI Governance Investigation</a:t>
            </a:r>
            <a:br/>
            <a:br/>
            <a:r>
              <a:rPr/>
              <a:t>Praveen K Asthana</a:t>
            </a:r>
            <a:br/>
            <a:r>
              <a:rPr/>
              <a:t>Doctoral Candidate, DBA Programme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Doctoral Defense</a:t>
            </a:r>
            <a:br/>
            <a:r>
              <a:rPr/>
              <a:t>2026-05-12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 i="1"/>
                  <a:t>Central Question:</a:t>
                </a:r>
                <a:r>
                  <a:rPr i="1"/>
                  <a:t> How does Responsible AI governance influence clinician trust and adoption intention for AI-assisted ASD EEG screening, through perceived explainability?</a:t>
                </a:r>
              </a:p>
              <a:p>
                <a:pPr lvl="0" indent="0" marL="0">
                  <a:buNone/>
                </a:pPr>
                <a:r>
                  <a:rPr/>
                  <a:t>The Problem</a:t>
                </a:r>
              </a:p>
              <a:p>
                <a:pPr lvl="0"/>
                <a:r>
                  <a:rPr/>
                  <a:t>Healthcare organizations face significant barriers in </a:t>
                </a:r>
                <a:r>
                  <a:rPr b="1"/>
                  <a:t>trusting</a:t>
                </a:r>
                <a:r>
                  <a:rPr/>
                  <a:t> and </a:t>
                </a:r>
                <a:r>
                  <a:rPr b="1"/>
                  <a:t>operationally adopting</a:t>
                </a:r>
                <a:r>
                  <a:rPr/>
                  <a:t> AI-assisted diagnostic systems</a:t>
                </a:r>
              </a:p>
              <a:p>
                <a:pPr lvl="0"/>
                <a:r>
                  <a:rPr/>
                  <a:t>The barrier is </a:t>
                </a:r>
                <a:r>
                  <a:rPr i="1"/>
                  <a:t>not</a:t>
                </a:r>
                <a:r>
                  <a:rPr/>
                  <a:t> accuracy — classifiers exceed 95%</a:t>
                </a:r>
              </a:p>
              <a:p>
                <a:pPr lvl="0"/>
                <a:r>
                  <a:rPr/>
                  <a:t>The barrier is the absence of:</a:t>
                </a:r>
              </a:p>
              <a:p>
                <a:pPr lvl="1"/>
                <a:r>
                  <a:rPr/>
                  <a:t>operationalized Responsible AI governance</a:t>
                </a:r>
              </a:p>
              <a:p>
                <a:pPr lvl="1"/>
                <a:r>
                  <a:rPr/>
                  <a:t>clinician-centered explainability</a:t>
                </a:r>
              </a:p>
              <a:p>
                <a:pPr lvl="1"/>
                <a:r>
                  <a:rPr/>
                  <a:t>human oversight integrated into workflow</a:t>
                </a:r>
              </a:p>
              <a:p>
                <a:pPr lvl="0"/>
                <a:r>
                  <a:rPr/>
                  <a:t>Result: technically capable AI cannot deliver business value because it cannot pass the trust threshold required for adoption</a:t>
                </a:r>
              </a:p>
              <a:p>
                <a:pPr lvl="0" indent="0" marL="0">
                  <a:buNone/>
                </a:pPr>
                <a:r>
                  <a:rPr/>
                  <a:t>Research Gap</a:t>
                </a:r>
              </a:p>
              <a:p>
                <a:pPr lvl="0" indent="0" marL="0">
                  <a:buNone/>
                </a:pPr>
                <a:r>
                  <a:rPr b="1"/>
                  <a:t>The dissertation’s gap claim</a:t>
                </a:r>
                <a:r>
                  <a:rPr/>
                  <a:t> Existing healthcare AI studies focus primarily on predictive performance; insufficient attention has been given to </a:t>
                </a:r>
                <a:r>
                  <a:rPr i="1"/>
                  <a:t>Responsible AI operationalization</a:t>
                </a:r>
                <a:r>
                  <a:rPr/>
                  <a:t> as the antecedent of clinician trust and operational adoption.</a:t>
                </a:r>
              </a:p>
              <a:p>
                <a:pPr lvl="0" indent="0" marL="0">
                  <a:buNone/>
                </a:pPr>
                <a:r>
                  <a:rPr/>
                  <a:t>Central Research Question</a:t>
                </a:r>
              </a:p>
              <a:p>
                <a:pPr lvl="0" indent="0" marL="0">
                  <a:buNone/>
                </a:pPr>
                <a:r>
                  <a:rPr b="1"/>
                  <a:t>Locked research question</a:t>
                </a:r>
                <a:r>
                  <a:rPr/>
                  <a:t> </a:t>
                </a:r>
                <a:r>
                  <a:rPr i="1"/>
                  <a:t>How does Responsible AI governance influence clinician trust and adoption intention for AI-assisted ASD EEG screening, through perceived explainability?</a:t>
                </a:r>
              </a:p>
              <a:p>
                <a:pPr lvl="0"/>
                <a:r>
                  <a:rPr/>
                  <a:t>One bounded organizational research problem</a:t>
                </a:r>
              </a:p>
              <a:p>
                <a:pPr lvl="0"/>
                <a:r>
                  <a:rPr/>
                  <a:t>Four constructs (Governance, Explainability, Trust, Adoption)</a:t>
                </a:r>
              </a:p>
              <a:p>
                <a:pPr lvl="0"/>
                <a:r>
                  <a:rPr/>
                  <a:t>One mediator chain</a:t>
                </a:r>
              </a:p>
              <a:p>
                <a:pPr lvl="0"/>
                <a:r>
                  <a:rPr/>
                  <a:t>Falsifiable hypotheses</a:t>
                </a:r>
              </a:p>
              <a:p>
                <a:pPr lvl="0" indent="0" marL="0">
                  <a:buNone/>
                </a:pPr>
                <a:r>
                  <a:rPr/>
                  <a:t>Conceptual Framework</a:t>
                </a:r>
              </a:p>
              <a:p>
                <a:pPr lvl="0"/>
                <a:r>
                  <a:rPr/>
                  <a:t>Theoretical anchors: TAM (Davis 1989), Trust in Automation (Lee &amp; See 2004), Socio-Technical Systems (Cherns 1976)</a:t>
                </a:r>
              </a:p>
              <a:p>
                <a:pPr lvl="0" indent="0" marL="0">
                  <a:buNone/>
                </a:pPr>
                <a:r>
                  <a:rPr/>
                  <a:t>Variables</a:t>
                </a:r>
              </a:p>
              <a:p>
                <a:pPr lvl="0" indent="0" marL="0">
                  <a:buNone/>
                </a:pPr>
                <a:r>
                  <a:rPr/>
                  <a:t>Hypotheses (H1–H6)</a:t>
                </a:r>
              </a:p>
              <a:p>
                <a:pPr lvl="0"/>
                <a:r>
                  <a:rPr/>
                  <a:t>All hypotheses are causally specified, measurable, and pre-registered</a:t>
                </a:r>
              </a:p>
              <a:p>
                <a:pPr lvl="0"/>
                <a:r>
                  <a:rPr/>
                  <a:t>Mediation paths (H4, H5) are tested with bootstrap CI (1,000 resamples)</a:t>
                </a:r>
              </a:p>
              <a:p>
                <a:pPr lvl="0" indent="0" marL="0">
                  <a:buNone/>
                </a:pPr>
                <a:r>
                  <a:rPr/>
                  <a:t>Research Methodology</a:t>
                </a:r>
              </a:p>
              <a:p>
                <a:pPr lvl="0" indent="0" marL="0">
                  <a:buNone/>
                </a:pPr>
                <a:r>
                  <a:rPr/>
                  <a:t>RGAIG Maturity Framework — The Hero Artefact</a:t>
                </a:r>
              </a:p>
              <a:p>
                <a:pPr lvl="0"/>
                <a:r>
                  <a:rPr/>
                  <a:t>Six-level managerial instrument for healthcare AI deployment readiness</a:t>
                </a:r>
              </a:p>
              <a:p>
                <a:pPr lvl="0"/>
                <a:r>
                  <a:rPr/>
                  <a:t>Healthcare organizations advance levels by adding </a:t>
                </a:r>
                <a:r>
                  <a:rPr i="1"/>
                  <a:t>architectural capability</a:t>
                </a:r>
                <a:r>
                  <a:rPr/>
                  <a:t>, not by accumulating frameworks</a:t>
                </a:r>
              </a:p>
              <a:p>
                <a:pPr lvl="0"/>
                <a:r>
                  <a:rPr/>
                  <a:t>This is the dissertation’s </a:t>
                </a:r>
                <a:r>
                  <a:rPr b="1"/>
                  <a:t>primary practical contribution</a:t>
                </a:r>
              </a:p>
              <a:p>
                <a:pPr lvl="0" indent="0" marL="0">
                  <a:buNone/>
                </a:pPr>
                <a:r>
                  <a:rPr/>
                  <a:t>Key Findings — Storytelling Summary</a:t>
                </a:r>
              </a:p>
              <a:p>
                <a:pPr lvl="0"/>
                <a:r>
                  <a:rPr/>
                  <a:t>All six hypotheses supported (H6 partially)</a:t>
                </a:r>
              </a:p>
              <a:p>
                <a:pPr lvl="0"/>
                <a:r>
                  <a:rPr/>
                  <a:t>Statistical detail in backup slides</a:t>
                </a:r>
              </a:p>
              <a:p>
                <a:pPr lvl="0" indent="0" marL="0">
                  <a:buNone/>
                </a:pPr>
                <a:r>
                  <a:rPr/>
                  <a:t>Negative Findings (Balanced Reporting)</a:t>
                </a:r>
              </a:p>
              <a:p>
                <a:pPr lvl="0"/>
                <a:r>
                  <a:rPr b="1"/>
                  <a:t>Over-reliance concern</a:t>
                </a:r>
                <a:r>
                  <a:rPr/>
                  <a:t>: 31% of expert panellists worried about clinicians deferring to AI without judgement</a:t>
                </a:r>
              </a:p>
              <a:p>
                <a:pPr lvl="0"/>
                <a:r>
                  <a:rPr b="1"/>
                  <a:t>Explainability alone insufficient</a:t>
                </a:r>
                <a:r>
                  <a:rPr/>
                  <a:t>: SHAP-only condition rated lower (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3.4</m:t>
                    </m:r>
                  </m:oMath>
                </a14:m>
                <a:r>
                  <a:rPr/>
                  <a:t>) than SHAP+RAG (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4.6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.001</m:t>
                    </m:r>
                  </m:oMath>
                </a14:m>
                <a:r>
                  <a:rPr/>
                  <a:t>)</a:t>
                </a:r>
              </a:p>
              <a:p>
                <a:pPr lvl="0"/>
                <a:r>
                  <a:rPr b="1"/>
                  <a:t>Workflow-disruption fear</a:t>
                </a:r>
                <a:r>
                  <a:rPr/>
                  <a:t>: 24% concerned that AI integration would slow rather than speed clinical workflow</a:t>
                </a:r>
              </a:p>
              <a:p>
                <a:pPr lvl="0"/>
                <a:r>
                  <a:rPr b="1"/>
                  <a:t>Governance maturity variability</a:t>
                </a:r>
                <a:r>
                  <a:rPr/>
                  <a:t>: Some institutions still at Level 1–2; pathway sensitive to starting point</a:t>
                </a:r>
              </a:p>
              <a:p>
                <a:pPr lvl="0"/>
                <a:r>
                  <a:rPr b="1"/>
                  <a:t>H6 partial moderation only</a:t>
                </a:r>
                <a:r>
                  <a:rPr/>
                  <a:t>: AI familiarity moderates trust only for low-familiarity clinicians</a:t>
                </a:r>
              </a:p>
              <a:p>
                <a:pPr lvl="0" indent="0" marL="0">
                  <a:buNone/>
                </a:pPr>
                <a:r>
                  <a:rPr/>
                  <a:t>Implication The goal is </a:t>
                </a:r>
                <a:r>
                  <a:rPr i="1"/>
                  <a:t>calibrated</a:t>
                </a:r>
                <a:r>
                  <a:rPr/>
                  <a:t> clinician trust, not blind reliance on AI.</a:t>
                </a:r>
              </a:p>
              <a:p>
                <a:pPr lvl="0" indent="0" marL="0">
                  <a:buNone/>
                </a:pPr>
                <a:r>
                  <a:rPr/>
                  <a:t>Mixed-Methods Triangulation</a:t>
                </a:r>
              </a:p>
              <a:p>
                <a:pPr lvl="0"/>
                <a:r>
                  <a:rPr/>
                  <a:t>Quantitative and qualitative evidence converge across all hypotheses</a:t>
                </a:r>
              </a:p>
              <a:p>
                <a:pPr lvl="0" indent="0" marL="0">
                  <a:buNone/>
                </a:pPr>
                <a:r>
                  <a:rPr/>
                  <a:t>Organizational Implications — Why This Matters</a:t>
                </a:r>
              </a:p>
              <a:p>
                <a:pPr lvl="0" indent="0" marL="0">
                  <a:buNone/>
                </a:pPr>
                <a:r>
                  <a:rPr/>
                  <a:t>Contributions</a:t>
                </a:r>
              </a:p>
              <a:p>
                <a:pPr lvl="0" indent="0" marL="0">
                  <a:buNone/>
                </a:pPr>
                <a:r>
                  <a:rPr/>
                  <a:t>Honest Limitations</a:t>
                </a:r>
              </a:p>
              <a:p>
                <a:pPr lvl="0"/>
                <a:r>
                  <a:rPr b="1"/>
                  <a:t>Cross-sectional design</a:t>
                </a:r>
                <a:r>
                  <a:rPr/>
                  <a:t>: associations established, not deterministic causation</a:t>
                </a:r>
              </a:p>
              <a:p>
                <a:pPr lvl="0"/>
                <a:r>
                  <a:rPr b="1"/>
                  <a:t>Sample size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131</m:t>
                    </m:r>
                  </m:oMath>
                </a14:m>
                <a:r>
                  <a:rPr/>
                  <a:t>): adequate for PLS-SEM; insufficient for CB-SEM or large multi-group analyses</a:t>
                </a:r>
              </a:p>
              <a:p>
                <a:pPr lvl="0"/>
                <a:r>
                  <a:rPr b="1"/>
                  <a:t>ASD-only domain</a:t>
                </a:r>
                <a:r>
                  <a:rPr/>
                  <a:t>: cross-condition generalization is a boundary, not a claim</a:t>
                </a:r>
              </a:p>
              <a:p>
                <a:pPr lvl="0"/>
                <a:r>
                  <a:rPr b="1"/>
                  <a:t>Self-reported adoption intention</a:t>
                </a:r>
                <a:r>
                  <a:rPr/>
                  <a:t>: intention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≠</m:t>
                    </m:r>
                  </m:oMath>
                </a14:m>
                <a:r>
                  <a:rPr/>
                  <a:t> observed behaviour</a:t>
                </a:r>
              </a:p>
              <a:p>
                <a:pPr lvl="0"/>
                <a:r>
                  <a:rPr b="1"/>
                  <a:t>Absence of longitudinal data</a:t>
                </a:r>
                <a:r>
                  <a:rPr/>
                  <a:t>: trajectory effects not tested</a:t>
                </a:r>
              </a:p>
              <a:p>
                <a:pPr lvl="0"/>
                <a:r>
                  <a:rPr b="1"/>
                  <a:t>Perceived vs. deployed governance</a:t>
                </a:r>
                <a:r>
                  <a:rPr/>
                  <a:t>: subjective perception, not audit of operational practice</a:t>
                </a:r>
              </a:p>
              <a:p>
                <a:pPr lvl="0" indent="0" marL="0">
                  <a:buNone/>
                </a:pPr>
                <a:r>
                  <a:rPr/>
                  <a:t>Focused Future Work</a:t>
                </a:r>
              </a:p>
              <a:p>
                <a:pPr lvl="0"/>
                <a:r>
                  <a:rPr/>
                  <a:t>Longitudinal governance evaluation (12–24 month trajectory study)</a:t>
                </a:r>
              </a:p>
              <a:p>
                <a:pPr lvl="0"/>
                <a:r>
                  <a:rPr/>
                  <a:t>Multi-site healthcare validation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  <m:r>
                      <m:t>5</m:t>
                    </m:r>
                  </m:oMath>
                </a14:m>
                <a:r>
                  <a:rPr/>
                  <a:t> healthcare systems)</a:t>
                </a:r>
              </a:p>
              <a:p>
                <a:pPr lvl="0"/>
                <a:r>
                  <a:rPr/>
                  <a:t>Additional neurological domains (Parkinson’s, schizophrenia, depression EEG)</a:t>
                </a:r>
              </a:p>
              <a:p>
                <a:pPr lvl="0"/>
                <a:r>
                  <a:rPr/>
                  <a:t>Real-world deployment evaluation (observational, not survey)</a:t>
                </a:r>
              </a:p>
              <a:p>
                <a:pPr lvl="0"/>
                <a:r>
                  <a:rPr/>
                  <a:t>Comparative governance maturity benchmarking across institutions</a:t>
                </a:r>
              </a:p>
              <a:p>
                <a:pPr lvl="0"/>
                <a:r>
                  <a:rPr/>
                  <a:t>Clinician-AI collaboration studies (mixed methods, HITL focus)</a:t>
                </a:r>
              </a:p>
              <a:p>
                <a:pPr lvl="0" indent="0" marL="0">
                  <a:buNone/>
                </a:pPr>
                <a:r>
                  <a:rPr/>
                  <a:t>Explicitly excluded AGI healthcare; autonomous AI hospitals; quantum governance; swarm diagnosis; speculative AI futures</a:t>
                </a:r>
              </a:p>
              <a:p>
                <a:pPr lvl="0" indent="0" marL="0">
                  <a:buNone/>
                </a:pPr>
                <a:r>
                  <a:rPr/>
                  <a:t>Why Human Oversight Remains Central</a:t>
                </a:r>
              </a:p>
              <a:p>
                <a:pPr lvl="0"/>
                <a:r>
                  <a:rPr b="1"/>
                  <a:t>Accountability cannot be automated</a:t>
                </a:r>
                <a:r>
                  <a:rPr/>
                  <a:t> — clinicians are professionally and legally accountable</a:t>
                </a:r>
              </a:p>
              <a:p>
                <a:pPr lvl="0"/>
                <a:r>
                  <a:rPr b="1"/>
                  <a:t>Edge cases require judgement</a:t>
                </a:r>
                <a:r>
                  <a:rPr/>
                  <a:t> — AI cannot know its own distribution boundaries reliably</a:t>
                </a:r>
              </a:p>
              <a:p>
                <a:pPr lvl="0"/>
                <a:r>
                  <a:rPr b="1"/>
                  <a:t>Patient values matter</a:t>
                </a:r>
                <a:r>
                  <a:rPr/>
                  <a:t> — ASD diagnosis involves family context that no model captures</a:t>
                </a:r>
              </a:p>
              <a:p>
                <a:pPr lvl="0"/>
                <a:r>
                  <a:rPr b="1"/>
                  <a:t>Trust is bidirectional</a:t>
                </a:r>
                <a:r>
                  <a:rPr/>
                  <a:t> — patient trust depends on clinician explaining, not on model emitting</a:t>
                </a:r>
              </a:p>
              <a:p>
                <a:pPr lvl="0"/>
                <a:r>
                  <a:rPr b="1"/>
                  <a:t>Regulation requires it</a:t>
                </a:r>
                <a:r>
                  <a:rPr/>
                  <a:t> — EU AI Act + FDA SaMD mandate human oversight in high-risk medical AI</a:t>
                </a:r>
              </a:p>
              <a:p>
                <a:pPr lvl="0" indent="0" marL="0">
                  <a:buNone/>
                </a:pPr>
                <a:r>
                  <a:rPr/>
                  <a:t>Identity statement This is </a:t>
                </a:r>
                <a:r>
                  <a:rPr i="1"/>
                  <a:t>human-centered Responsible AI governance for healthcare AI adoption</a:t>
                </a:r>
                <a:r>
                  <a:rPr/>
                  <a:t> — not autonomous AI roadmap.</a:t>
                </a:r>
              </a:p>
              <a:p>
                <a:pPr lvl="0" indent="0" marL="0">
                  <a:buNone/>
                </a:pPr>
                <a:r>
                  <a:rPr b="1"/>
                  <a:t>Unified Doctoral Identity</a:t>
                </a:r>
                <a:br/>
              </a:p>
              <a:p>
                <a:pPr lvl="0" indent="0" marL="0">
                  <a:buNone/>
                </a:pPr>
                <a:r>
                  <a:rPr/>
                  <a:t> </a:t>
                </a:r>
                <a:r>
                  <a:rPr i="1"/>
                  <a:t>This dissertation investigates how Responsible AI governance mechanisms improve clinician trust and operational adoption readiness in AI-assisted healthcare environments.</a:t>
                </a:r>
                <a:br/>
              </a:p>
              <a:p>
                <a:pPr lvl="0" indent="0" marL="0">
                  <a:buNone/>
                </a:pPr>
                <a:r>
                  <a:rPr/>
                  <a:t> Not architecture research. Not AI optimization. Not generic technology adoption.</a:t>
                </a:r>
                <a:br/>
                <a:r>
                  <a:rPr/>
                  <a:t> </a:t>
                </a:r>
                <a:r>
                  <a:rPr b="1"/>
                  <a:t>Human-Centered Responsible AI Governance for Healthcare AI Adoption.</a:t>
                </a:r>
              </a:p>
              <a:p>
                <a:pPr lvl="0" indent="0" marL="0">
                  <a:buNone/>
                </a:pPr>
                <a:r>
                  <a:rPr b="1"/>
                  <a:t>Final Doctoral Claim</a:t>
                </a:r>
                <a:br/>
              </a:p>
              <a:p>
                <a:pPr lvl="0" indent="0" marL="0">
                  <a:buNone/>
                </a:pPr>
                <a:r>
                  <a:rPr/>
                  <a:t> </a:t>
                </a:r>
                <a:r>
                  <a:rPr i="1"/>
                  <a:t>Governance-driven perceived explainability significantly strengthens clinician trust and operational adoption readiness for AI-assisted ASD-EEG screening systems in healthcare organizations.</a:t>
                </a:r>
                <a:br/>
              </a:p>
              <a:p>
                <a:pPr lvl="0" indent="0" marL="0">
                  <a:buNone/>
                </a:pPr>
                <a:r>
                  <a:rPr/>
                  <a:t> Empirically supported (Ch. 4, H1–H5).</a:t>
                </a:r>
                <a:br/>
                <a:r>
                  <a:rPr/>
                  <a:t>Theoretically anchored (Ch. 2, TAM + Trust + STS).</a:t>
                </a:r>
                <a:br/>
                <a:r>
                  <a:rPr/>
                  <a:t>Methodologically defensible (Ch. 3 Methodological Rigor Charter).</a:t>
                </a:r>
                <a:br/>
                <a:r>
                  <a:rPr/>
                  <a:t>Managerially actionable (RGAIG Maturity Framework).</a:t>
                </a:r>
              </a:p>
              <a:p>
                <a:pPr lvl="0" indent="0" marL="0">
                  <a:buNone/>
                </a:pPr>
                <a:r>
                  <a:rPr b="1"/>
                  <a:t>Thank You</a:t>
                </a:r>
                <a:br/>
                <a:r>
                  <a:rPr/>
                  <a:t>Questions &amp; Discussion</a:t>
                </a:r>
                <a:br/>
              </a:p>
              <a:p>
                <a:pPr lvl="0" indent="0" marL="0">
                  <a:buNone/>
                </a:pPr>
                <a:r>
                  <a:rPr i="1"/>
                  <a:t>The remaining slides are backup material, available on request.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 Slides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Backup Slides</a:t>
                </a:r>
                <a:br/>
                <a:r>
                  <a:rPr i="1"/>
                  <a:t>Technical detail, statistical depth, instrument design, architecture</a:t>
                </a:r>
              </a:p>
              <a:p>
                <a:pPr lvl="0" indent="0" marL="0">
                  <a:buNone/>
                </a:pPr>
                <a:r>
                  <a:rPr/>
                  <a:t>Backup B1: Hypothesis Verdict Detail</a:t>
                </a:r>
              </a:p>
              <a:p>
                <a:pPr lvl="0" indent="0" marL="0">
                  <a:buNone/>
                </a:pPr>
                <a:r>
                  <a:rPr/>
                  <a:t>Backup B2: Construct Validation Metrics</a:t>
                </a:r>
              </a:p>
              <a:p>
                <a:pPr lvl="0" indent="0" marL="0">
                  <a:buNone/>
                </a:pPr>
                <a:r>
                  <a:rPr/>
                  <a:t>All four constructs satisfy every pre-registered threshold; no remediation required.</a:t>
                </a:r>
              </a:p>
              <a:p>
                <a:pPr lvl="0" indent="0" marL="0">
                  <a:buNone/>
                </a:pPr>
                <a:r>
                  <a:rPr/>
                  <a:t>Backup B3: Sample Size Justification (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131</m:t>
                    </m:r>
                  </m:oMath>
                </a14:m>
                <a:r>
                  <a:rPr/>
                  <a:t>)</a:t>
                </a:r>
              </a:p>
              <a:p>
                <a:pPr lvl="0"/>
                <a:r>
                  <a:rPr b="1"/>
                  <a:t>Hair 10:1 rule</a:t>
                </a:r>
                <a:r>
                  <a:rPr/>
                  <a:t> (Hair et al. 2019): largest construct has 10 indicators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100</m:t>
                    </m:r>
                  </m:oMath>
                </a14:m>
                <a:r>
                  <a:rPr/>
                  <a:t>; achieved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t>31</m:t>
                    </m:r>
                  </m:oMath>
                </a14:m>
                <a:r>
                  <a:rPr/>
                  <a:t>%</a:t>
                </a:r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t>G</m:t>
                        </m:r>
                      </m:e>
                      <m:sup>
                        <m:r>
                          <m:rPr>
                            <m:sty m:val="p"/>
                          </m:rPr>
                          <m:t>*</m:t>
                        </m:r>
                      </m:sup>
                    </m:sSup>
                  </m:oMath>
                </a14:m>
                <a:r>
                  <a:rPr b="1"/>
                  <a:t>Power analysis</a:t>
                </a:r>
                <a:r>
                  <a:rPr/>
                  <a:t>: medium effect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0.15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r>
                      <m:t>.05</m:t>
                    </m:r>
                  </m:oMath>
                </a14:m>
                <a:r>
                  <a:rPr/>
                  <a:t>, power </a:t>
                </a:r>
                <a14:m>
                  <m:oMath xmlns:m="http://schemas.openxmlformats.org/officeDocument/2006/math">
                    <m:r>
                      <m:t>0.80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119</m:t>
                    </m:r>
                  </m:oMath>
                </a14:m>
                <a:r>
                  <a:rPr/>
                  <a:t>; achieved exceeds</a:t>
                </a:r>
              </a:p>
              <a:p>
                <a:pPr lvl="0"/>
                <a:r>
                  <a:rPr b="1"/>
                  <a:t>Literature norms</a:t>
                </a:r>
                <a:r>
                  <a:rPr/>
                  <a:t> (Kock &amp; Hadaya 2018): typical PLS-SEM healthcare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80</m:t>
                    </m:r>
                  </m:oMath>
                </a14:m>
                <a:r>
                  <a:rPr/>
                  <a:t>–</a:t>
                </a:r>
                <a14:m>
                  <m:oMath xmlns:m="http://schemas.openxmlformats.org/officeDocument/2006/math">
                    <m:r>
                      <m:t>150</m:t>
                    </m:r>
                  </m:oMath>
                </a14:m>
                <a:r>
                  <a:rPr/>
                  <a:t>; within norm</a:t>
                </a:r>
              </a:p>
              <a:p>
                <a:pPr lvl="0"/>
                <a:r>
                  <a:rPr b="1"/>
                  <a:t>PLS-SEM selected</a:t>
                </a:r>
                <a:r>
                  <a:rPr/>
                  <a:t> (not CB-SEM): exploratory-predictive design, complex mediation,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200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Backup B4: Common Method Bias Tests</a:t>
                </a:r>
              </a:p>
              <a:p>
                <a:pPr lvl="0" indent="0" marL="0">
                  <a:buNone/>
                </a:pPr>
                <a:r>
                  <a:rPr/>
                  <a:t>No evidence of substantial CMB.</a:t>
                </a:r>
              </a:p>
              <a:p>
                <a:pPr lvl="0" indent="0" marL="0">
                  <a:buNone/>
                </a:pPr>
                <a:r>
                  <a:rPr/>
                  <a:t>Backup B5: Non-Response Bias</a:t>
                </a:r>
              </a:p>
              <a:p>
                <a:pPr lvl="0" indent="0" marL="0">
                  <a:buNone/>
                </a:pPr>
                <a:r>
                  <a:rPr/>
                  <a:t>Armstrong &amp; Overton 1977 method; no significant differences; bias not substantial.</a:t>
                </a:r>
              </a:p>
              <a:p>
                <a:pPr lvl="0" indent="0" marL="0">
                  <a:buNone/>
                </a:pPr>
                <a:r>
                  <a:rPr/>
                  <a:t>Backup B6: Why ASD-EEG as the Empirical Domain</a:t>
                </a:r>
              </a:p>
              <a:p>
                <a:pPr lvl="0"/>
                <a:r>
                  <a:rPr b="1"/>
                  <a:t>Early-intervention sensitivity</a:t>
                </a:r>
                <a:r>
                  <a:rPr/>
                  <a:t>: ASD outcomes depend on early diagnosis</a:t>
                </a:r>
              </a:p>
              <a:p>
                <a:pPr lvl="0"/>
                <a:r>
                  <a:rPr b="1"/>
                  <a:t>Diagnostic subjectivity</a:t>
                </a:r>
                <a:r>
                  <a:rPr/>
                  <a:t>: inter-rater variability creates trust threshold</a:t>
                </a:r>
              </a:p>
              <a:p>
                <a:pPr lvl="0"/>
                <a:r>
                  <a:rPr b="1"/>
                  <a:t>Clinician uncertainty</a:t>
                </a:r>
                <a:r>
                  <a:rPr/>
                  <a:t>: senior clinicians often report uncertainty on ASD calls</a:t>
                </a:r>
              </a:p>
              <a:p>
                <a:pPr lvl="0"/>
                <a:r>
                  <a:rPr b="1"/>
                  <a:t>Decision-support fit</a:t>
                </a:r>
                <a:r>
                  <a:rPr/>
                  <a:t>: ASD screening is multi-stage workflow; AI augments not replaces</a:t>
                </a:r>
              </a:p>
              <a:p>
                <a:pPr lvl="0"/>
                <a:r>
                  <a:rPr b="1"/>
                  <a:t>Explainability requirement</a:t>
                </a:r>
                <a:r>
                  <a:rPr/>
                  <a:t>: EU AI Act classifies paediatric neurological screening as high-risk</a:t>
                </a:r>
              </a:p>
              <a:p>
                <a:pPr lvl="0"/>
                <a:r>
                  <a:rPr b="1"/>
                  <a:t>Paediatric ethical sensitivity</a:t>
                </a:r>
                <a:r>
                  <a:rPr/>
                  <a:t>: governance constraints (consent, data minimisation, equity) are acute</a:t>
                </a:r>
              </a:p>
              <a:p>
                <a:pPr lvl="0" indent="0" marL="0">
                  <a:buNone/>
                </a:pPr>
                <a:r>
                  <a:rPr/>
                  <a:t>Backup B7: RGAIG 7 Control Families</a:t>
                </a:r>
              </a:p>
              <a:p>
                <a:pPr lvl="0" indent="0" marL="0">
                  <a:buNone/>
                </a:pPr>
                <a:r>
                  <a:rPr/>
                  <a:t>Backup B8: Theoretical Anchors</a:t>
                </a:r>
              </a:p>
              <a:p>
                <a:pPr lvl="0" indent="0" marL="0">
                  <a:buNone/>
                </a:pPr>
                <a:r>
                  <a:rPr/>
                  <a:t>Backup B9: Conceptual Architecture (Not Production Blueprint)</a:t>
                </a:r>
              </a:p>
              <a:p>
                <a:pPr lvl="0" indent="0" marL="0">
                  <a:buNone/>
                </a:pPr>
                <a:r>
                  <a:rPr/>
                  <a:t>Backup B10: Excluded Technologies (Scope Discipline) </a:t>
                </a:r>
                <a:r>
                  <a:rPr b="1"/>
                  <a:t>Explicitly excluded from contribution and future work:</a:t>
                </a:r>
              </a:p>
              <a:p>
                <a:pPr lvl="0"/>
                <a:r>
                  <a:rPr/>
                  <a:t>Artificial General Intelligence (AGI)</a:t>
                </a:r>
              </a:p>
              <a:p>
                <a:pPr lvl="0"/>
                <a:r>
                  <a:rPr/>
                  <a:t>Quantum AI / quantum governance</a:t>
                </a:r>
              </a:p>
              <a:p>
                <a:pPr lvl="0"/>
                <a:r>
                  <a:rPr/>
                  <a:t>Swarm intelligence / multi-agent ecosystems</a:t>
                </a:r>
              </a:p>
              <a:p>
                <a:pPr lvl="0"/>
                <a:r>
                  <a:rPr/>
                  <a:t>Neuromorphic AI hardware</a:t>
                </a:r>
              </a:p>
              <a:p>
                <a:pPr lvl="0"/>
                <a:r>
                  <a:rPr/>
                  <a:t>Autonomous AI diagnosis (conflicts with HITL framing)</a:t>
                </a:r>
              </a:p>
              <a:p>
                <a:pPr lvl="0"/>
                <a:r>
                  <a:rPr/>
                  <a:t>Digital society / civilization-scale AI</a:t>
                </a:r>
              </a:p>
              <a:p>
                <a:pPr lvl="0"/>
                <a:r>
                  <a:rPr/>
                  <a:t>Deep multi-agent orchestration deep dives</a:t>
                </a:r>
              </a:p>
              <a:p>
                <a:pPr lvl="0"/>
                <a:r>
                  <a:rPr/>
                  <a:t>Edge AI / IoT hardware engineering</a:t>
                </a:r>
              </a:p>
              <a:p>
                <a:pPr lvl="0"/>
                <a:r>
                  <a:rPr/>
                  <a:t>LLMOps / MLOps platform engineering</a:t>
                </a:r>
              </a:p>
              <a:p>
                <a:pPr lvl="0"/>
                <a:r>
                  <a:rPr/>
                  <a:t>Custom XAI / new SHAP variants (methodological-XAI research)</a:t>
                </a:r>
              </a:p>
              <a:p>
                <a:pPr lvl="0"/>
                <a:r>
                  <a:rPr/>
                  <a:t>Vendor-specific platform recommendations</a:t>
                </a:r>
              </a:p>
              <a:p>
                <a:pPr lvl="0" indent="0" marL="0">
                  <a:buNone/>
                </a:pPr>
                <a:r>
                  <a:rPr i="1"/>
                  <a:t>Scope is governed, not declared. The absence of these is deliberate.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Responsible AI Governance for Clinician Trust and Adoption of AI-Assisted ASD-EEG Screening</dc:title>
  <dc:creator>Praveen K Asthana Doctoral Candidate, DBA Programme</dc:creator>
  <cp:keywords/>
  <dcterms:created xsi:type="dcterms:W3CDTF">2026-05-12T16:41:20Z</dcterms:created>
  <dcterms:modified xsi:type="dcterms:W3CDTF">2026-05-12T16:41:20Z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Doctoral Defense 2026-05-12</vt:lpwstr>
  </property>
  <property fmtid="{D5CDD505-2E9C-101B-9397-08002B2CF9AE}" pid="3" name="subtitle">
    <vt:lpwstr>A Human-Centered Responsible AI Governance Investigation</vt:lpwstr>
  </property>
</Properties>
</file>